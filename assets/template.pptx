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82" r:id="rId5"/>
    <p:sldId id="261" r:id="rId6"/>
    <p:sldId id="283" r:id="rId7"/>
    <p:sldId id="262" r:id="rId8"/>
    <p:sldId id="284" r:id="rId9"/>
    <p:sldId id="285" r:id="rId10"/>
    <p:sldId id="286" r:id="rId11"/>
    <p:sldId id="287" r:id="rId12"/>
    <p:sldId id="288" r:id="rId13"/>
    <p:sldId id="289" r:id="rId14"/>
    <p:sldId id="290" r:id="rId15"/>
    <p:sldId id="291" r:id="rId16"/>
    <p:sldId id="292" r:id="rId17"/>
    <p:sldId id="293" r:id="rId18"/>
    <p:sldId id="294" r:id="rId19"/>
    <p:sldId id="295" r:id="rId20"/>
    <p:sldId id="296" r:id="rId21"/>
    <p:sldId id="297" r:id="rId22"/>
    <p:sldId id="298" r:id="rId23"/>
    <p:sldId id="299" r:id="rId24"/>
    <p:sldId id="300" r:id="rId25"/>
    <p:sldId id="301" r:id="rId26"/>
    <p:sldId id="302" r:id="rId27"/>
    <p:sldId id="303" r:id="rId28"/>
    <p:sldId id="304" r:id="rId29"/>
    <p:sldId id="305" r:id="rId30"/>
    <p:sldId id="306" r:id="rId31"/>
    <p:sldId id="307" r:id="rId32"/>
    <p:sldId id="308" r:id="rId33"/>
    <p:sldId id="309" r:id="rId34"/>
    <p:sldId id="310" r:id="rId35"/>
    <p:sldId id="311" r:id="rId36"/>
    <p:sldId id="312" r:id="rId37"/>
    <p:sldId id="313" r:id="rId38"/>
    <p:sldId id="314" r:id="rId39"/>
    <p:sldId id="315" r:id="rId40"/>
    <p:sldId id="316" r:id="rId41"/>
    <p:sldId id="317" r:id="rId42"/>
    <p:sldId id="318" r:id="rId43"/>
    <p:sldId id="319" r:id="rId44"/>
    <p:sldId id="320" r:id="rId45"/>
    <p:sldId id="321" r:id="rId46"/>
    <p:sldId id="280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99" autoAdjust="0"/>
    <p:restoredTop sz="94660"/>
  </p:normalViewPr>
  <p:slideViewPr>
    <p:cSldViewPr snapToGrid="0" showGuides="1">
      <p:cViewPr varScale="1">
        <p:scale>
          <a:sx n="114" d="100"/>
          <a:sy n="114" d="100"/>
        </p:scale>
        <p:origin x="46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2454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7029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2788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5281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95323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83294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5823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0308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4442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894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425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DFA88-DAF2-4E56-B979-3B8E0E9FD0E7}" type="datetimeFigureOut">
              <a:rPr lang="en-IN" smtClean="0"/>
              <a:t>07-04-2026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039063-78A0-4CBC-B790-DBA796D8D0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670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48.png"/><Relationship Id="rId7" Type="http://schemas.openxmlformats.org/officeDocument/2006/relationships/image" Target="../media/image52.png"/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3845227"/>
              </p:ext>
            </p:extLst>
          </p:nvPr>
        </p:nvGraphicFramePr>
        <p:xfrm>
          <a:off x="2117273" y="1845724"/>
          <a:ext cx="8296275" cy="2454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81" name="CorelDRAW" r:id="rId3" imgW="8296575" imgH="2453589" progId="CorelDraw.Graphic.25">
                  <p:embed/>
                </p:oleObj>
              </mc:Choice>
              <mc:Fallback>
                <p:oleObj name="CorelDRAW" r:id="rId3" imgW="8296575" imgH="2453589" progId="CorelDraw.Graphic.25">
                  <p:embed/>
                  <p:pic>
                    <p:nvPicPr>
                      <p:cNvPr id="2" name="Object 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117273" y="1845724"/>
                        <a:ext cx="8296275" cy="24542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Subtitle 3"/>
          <p:cNvSpPr txBox="1">
            <a:spLocks/>
          </p:cNvSpPr>
          <p:nvPr/>
        </p:nvSpPr>
        <p:spPr>
          <a:xfrm>
            <a:off x="2878822" y="4513801"/>
            <a:ext cx="6434356" cy="36206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smtClean="0">
                <a:latin typeface="Montserrat" pitchFamily="2" charset="0"/>
              </a:rPr>
              <a:t> </a:t>
            </a:r>
            <a:r>
              <a:rPr lang="en-US" sz="2000" b="1" dirty="0" smtClean="0">
                <a:latin typeface="Montserrat" pitchFamily="2" charset="0"/>
              </a:rPr>
              <a:t>264</a:t>
            </a:r>
            <a:r>
              <a:rPr lang="en-US" sz="2000" dirty="0" smtClean="0">
                <a:latin typeface="Montserrat" pitchFamily="2" charset="0"/>
              </a:rPr>
              <a:t> SCREENS  |  </a:t>
            </a:r>
            <a:r>
              <a:rPr lang="en-US" sz="2000" b="1" dirty="0" smtClean="0">
                <a:latin typeface="Montserrat" pitchFamily="2" charset="0"/>
              </a:rPr>
              <a:t>20</a:t>
            </a:r>
            <a:r>
              <a:rPr lang="en-US" sz="2000" dirty="0" smtClean="0">
                <a:latin typeface="Montserrat" pitchFamily="2" charset="0"/>
              </a:rPr>
              <a:t> CITIES  |  </a:t>
            </a:r>
            <a:r>
              <a:rPr lang="en-US" sz="2000" b="1" dirty="0" smtClean="0">
                <a:latin typeface="Montserrat" pitchFamily="2" charset="0"/>
              </a:rPr>
              <a:t>29L+ </a:t>
            </a:r>
            <a:r>
              <a:rPr lang="en-US" sz="2000" dirty="0" smtClean="0">
                <a:latin typeface="Montserrat" pitchFamily="2" charset="0"/>
              </a:rPr>
              <a:t>IMPRESSIONS</a:t>
            </a:r>
            <a:endParaRPr lang="en-IN" sz="2000" dirty="0"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6398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19892" y="1293614"/>
            <a:ext cx="8194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Montserrat" pitchFamily="2" charset="0"/>
              </a:rPr>
              <a:t>SR.NO.</a:t>
            </a:r>
          </a:p>
        </p:txBody>
      </p:sp>
      <p:sp>
        <p:nvSpPr>
          <p:cNvPr id="5" name="Rectangle 4"/>
          <p:cNvSpPr/>
          <p:nvPr/>
        </p:nvSpPr>
        <p:spPr>
          <a:xfrm>
            <a:off x="2015292" y="1293614"/>
            <a:ext cx="12314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Montserrat" pitchFamily="2" charset="0"/>
              </a:rPr>
              <a:t>CITY NAME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3753743" y="1293613"/>
            <a:ext cx="19479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Montserrat" pitchFamily="2" charset="0"/>
              </a:rPr>
              <a:t>QTY(55 UNIT INCH)</a:t>
            </a:r>
          </a:p>
        </p:txBody>
      </p:sp>
      <p:sp>
        <p:nvSpPr>
          <p:cNvPr id="7" name="Rectangle 6"/>
          <p:cNvSpPr/>
          <p:nvPr/>
        </p:nvSpPr>
        <p:spPr>
          <a:xfrm>
            <a:off x="6291203" y="1293612"/>
            <a:ext cx="8194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Montserrat" pitchFamily="2" charset="0"/>
              </a:rPr>
              <a:t>SR.NO.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506380" y="1293612"/>
            <a:ext cx="12314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Montserrat" pitchFamily="2" charset="0"/>
              </a:rPr>
              <a:t>CITY NAME</a:t>
            </a:r>
          </a:p>
        </p:txBody>
      </p:sp>
      <p:sp>
        <p:nvSpPr>
          <p:cNvPr id="9" name="Rectangle 8"/>
          <p:cNvSpPr/>
          <p:nvPr/>
        </p:nvSpPr>
        <p:spPr>
          <a:xfrm>
            <a:off x="9358040" y="1293312"/>
            <a:ext cx="194796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latin typeface="Montserrat" pitchFamily="2" charset="0"/>
              </a:rPr>
              <a:t>QTY(55 UNIT INCH)</a:t>
            </a:r>
          </a:p>
        </p:txBody>
      </p:sp>
      <p:grpSp>
        <p:nvGrpSpPr>
          <p:cNvPr id="21" name="Group 20"/>
          <p:cNvGrpSpPr/>
          <p:nvPr/>
        </p:nvGrpSpPr>
        <p:grpSpPr>
          <a:xfrm>
            <a:off x="671513" y="1601089"/>
            <a:ext cx="10806219" cy="345242"/>
            <a:chOff x="671513" y="1601089"/>
            <a:chExt cx="10806219" cy="345242"/>
          </a:xfrm>
        </p:grpSpPr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71513" y="1601089"/>
              <a:ext cx="5267325" cy="341377"/>
            </a:xfrm>
            <a:prstGeom prst="rect">
              <a:avLst/>
            </a:prstGeom>
          </p:spPr>
        </p:pic>
        <p:sp>
          <p:nvSpPr>
            <p:cNvPr id="10" name="Rectangle 9"/>
            <p:cNvSpPr/>
            <p:nvPr/>
          </p:nvSpPr>
          <p:spPr>
            <a:xfrm>
              <a:off x="827842" y="1617888"/>
              <a:ext cx="3770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b="1" dirty="0">
                  <a:solidFill>
                    <a:schemeClr val="bg1"/>
                  </a:solidFill>
                  <a:latin typeface="Montserrat" pitchFamily="2" charset="0"/>
                </a:rPr>
                <a:t>01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182003" y="1617888"/>
              <a:ext cx="8980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b="1" dirty="0">
                  <a:solidFill>
                    <a:schemeClr val="bg1"/>
                  </a:solidFill>
                  <a:latin typeface="Montserrat" pitchFamily="2" charset="0"/>
                </a:rPr>
                <a:t>ANAND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4583461" y="1617888"/>
              <a:ext cx="412292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b="1" dirty="0">
                  <a:solidFill>
                    <a:schemeClr val="bg1"/>
                  </a:solidFill>
                  <a:latin typeface="Montserrat" pitchFamily="2" charset="0"/>
                </a:rPr>
                <a:t>20</a:t>
              </a: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210407" y="1604954"/>
              <a:ext cx="5267325" cy="341377"/>
            </a:xfrm>
            <a:prstGeom prst="rect">
              <a:avLst/>
            </a:prstGeom>
          </p:spPr>
        </p:pic>
        <p:sp>
          <p:nvSpPr>
            <p:cNvPr id="17" name="Rectangle 16"/>
            <p:cNvSpPr/>
            <p:nvPr/>
          </p:nvSpPr>
          <p:spPr>
            <a:xfrm>
              <a:off x="6454070" y="1629444"/>
              <a:ext cx="32573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b="1" dirty="0">
                  <a:solidFill>
                    <a:schemeClr val="bg1"/>
                  </a:solidFill>
                  <a:latin typeface="Montserrat" pitchFamily="2" charset="0"/>
                </a:rPr>
                <a:t>11</a:t>
              </a:r>
            </a:p>
          </p:txBody>
        </p:sp>
        <p:sp>
          <p:nvSpPr>
            <p:cNvPr id="18" name="Rectangle 17"/>
            <p:cNvSpPr/>
            <p:nvPr/>
          </p:nvSpPr>
          <p:spPr>
            <a:xfrm>
              <a:off x="7808231" y="1629444"/>
              <a:ext cx="89800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b="1" dirty="0">
                  <a:solidFill>
                    <a:schemeClr val="bg1"/>
                  </a:solidFill>
                  <a:latin typeface="Montserrat" pitchFamily="2" charset="0"/>
                </a:rPr>
                <a:t>BOTAD</a:t>
              </a:r>
            </a:p>
          </p:txBody>
        </p:sp>
        <p:sp>
          <p:nvSpPr>
            <p:cNvPr id="19" name="Rectangle 18"/>
            <p:cNvSpPr/>
            <p:nvPr/>
          </p:nvSpPr>
          <p:spPr>
            <a:xfrm>
              <a:off x="10209689" y="1629444"/>
              <a:ext cx="37702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sz="1400" b="1" dirty="0" smtClean="0">
                  <a:solidFill>
                    <a:schemeClr val="bg1"/>
                  </a:solidFill>
                  <a:latin typeface="Montserrat" pitchFamily="2" charset="0"/>
                </a:rPr>
                <a:t>10</a:t>
              </a:r>
              <a:endParaRPr lang="en-IN" sz="1400" b="1" dirty="0">
                <a:solidFill>
                  <a:schemeClr val="bg1"/>
                </a:solidFill>
                <a:latin typeface="Montserrat" pitchFamily="2" charset="0"/>
              </a:endParaRPr>
            </a:p>
          </p:txBody>
        </p:sp>
      </p:grpSp>
      <p:sp>
        <p:nvSpPr>
          <p:cNvPr id="20" name="Rectangle 19"/>
          <p:cNvSpPr/>
          <p:nvPr/>
        </p:nvSpPr>
        <p:spPr>
          <a:xfrm>
            <a:off x="3217308" y="386834"/>
            <a:ext cx="56220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Montserrat" pitchFamily="2" charset="0"/>
              </a:rPr>
              <a:t>TOTAL SCREENS - 264 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887" y="2077320"/>
            <a:ext cx="5267325" cy="341377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827842" y="2094119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02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182003" y="2094119"/>
            <a:ext cx="89800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KHEDA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601229" y="2094119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10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10407" y="2081185"/>
            <a:ext cx="5267325" cy="341377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6454070" y="2105675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12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808231" y="2105675"/>
            <a:ext cx="14285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BHAVNAGAR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209689" y="2105675"/>
            <a:ext cx="3626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 smtClean="0">
                <a:solidFill>
                  <a:schemeClr val="bg1"/>
                </a:solidFill>
                <a:latin typeface="Montserrat" pitchFamily="2" charset="0"/>
              </a:rPr>
              <a:t>15</a:t>
            </a:r>
            <a:endParaRPr lang="en-IN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045" y="2553551"/>
            <a:ext cx="5267325" cy="341377"/>
          </a:xfrm>
          <a:prstGeom prst="rect">
            <a:avLst/>
          </a:prstGeom>
        </p:spPr>
      </p:pic>
      <p:sp>
        <p:nvSpPr>
          <p:cNvPr id="33" name="Rectangle 32"/>
          <p:cNvSpPr/>
          <p:nvPr/>
        </p:nvSpPr>
        <p:spPr>
          <a:xfrm>
            <a:off x="826374" y="2570350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03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180535" y="2570350"/>
            <a:ext cx="16466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GANDHINAGAR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99761" y="2570350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20</a:t>
            </a:r>
          </a:p>
        </p:txBody>
      </p:sp>
      <p:pic>
        <p:nvPicPr>
          <p:cNvPr id="36" name="Picture 3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939" y="2557416"/>
            <a:ext cx="5267325" cy="341377"/>
          </a:xfrm>
          <a:prstGeom prst="rect">
            <a:avLst/>
          </a:prstGeom>
        </p:spPr>
      </p:pic>
      <p:sp>
        <p:nvSpPr>
          <p:cNvPr id="37" name="Rectangle 36"/>
          <p:cNvSpPr/>
          <p:nvPr/>
        </p:nvSpPr>
        <p:spPr>
          <a:xfrm>
            <a:off x="6452602" y="2581906"/>
            <a:ext cx="3609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806763" y="2581906"/>
            <a:ext cx="10903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VERAVAL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208221" y="2581906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 smtClean="0">
                <a:solidFill>
                  <a:schemeClr val="bg1"/>
                </a:solidFill>
                <a:latin typeface="Montserrat" pitchFamily="2" charset="0"/>
              </a:rPr>
              <a:t>10</a:t>
            </a:r>
            <a:endParaRPr lang="en-IN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41" name="Picture 4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045" y="3012981"/>
            <a:ext cx="5267325" cy="341377"/>
          </a:xfrm>
          <a:prstGeom prst="rect">
            <a:avLst/>
          </a:prstGeom>
        </p:spPr>
      </p:pic>
      <p:sp>
        <p:nvSpPr>
          <p:cNvPr id="42" name="Rectangle 41"/>
          <p:cNvSpPr/>
          <p:nvPr/>
        </p:nvSpPr>
        <p:spPr>
          <a:xfrm>
            <a:off x="826374" y="3029780"/>
            <a:ext cx="4299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180535" y="3029780"/>
            <a:ext cx="166904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HIMMATNAGAR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99761" y="3029780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20</a:t>
            </a:r>
          </a:p>
        </p:txBody>
      </p:sp>
      <p:pic>
        <p:nvPicPr>
          <p:cNvPr id="45" name="Picture 4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939" y="3016846"/>
            <a:ext cx="5267325" cy="341377"/>
          </a:xfrm>
          <a:prstGeom prst="rect">
            <a:avLst/>
          </a:prstGeom>
        </p:spPr>
      </p:pic>
      <p:sp>
        <p:nvSpPr>
          <p:cNvPr id="46" name="Rectangle 45"/>
          <p:cNvSpPr/>
          <p:nvPr/>
        </p:nvSpPr>
        <p:spPr>
          <a:xfrm>
            <a:off x="6452602" y="3041336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14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806763" y="3041336"/>
            <a:ext cx="12747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JUNAGADH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0208221" y="3041336"/>
            <a:ext cx="3626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15</a:t>
            </a:r>
          </a:p>
        </p:txBody>
      </p:sp>
      <p:pic>
        <p:nvPicPr>
          <p:cNvPr id="50" name="Picture 4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0045" y="3483914"/>
            <a:ext cx="5267325" cy="341377"/>
          </a:xfrm>
          <a:prstGeom prst="rect">
            <a:avLst/>
          </a:prstGeom>
        </p:spPr>
      </p:pic>
      <p:sp>
        <p:nvSpPr>
          <p:cNvPr id="51" name="Rectangle 50"/>
          <p:cNvSpPr/>
          <p:nvPr/>
        </p:nvSpPr>
        <p:spPr>
          <a:xfrm>
            <a:off x="826374" y="3500713"/>
            <a:ext cx="41389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05</a:t>
            </a:r>
          </a:p>
        </p:txBody>
      </p:sp>
      <p:sp>
        <p:nvSpPr>
          <p:cNvPr id="52" name="Rectangle 51"/>
          <p:cNvSpPr/>
          <p:nvPr/>
        </p:nvSpPr>
        <p:spPr>
          <a:xfrm>
            <a:off x="2180535" y="3500713"/>
            <a:ext cx="91723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DAHOD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599761" y="3500713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10</a:t>
            </a:r>
          </a:p>
        </p:txBody>
      </p:sp>
      <p:pic>
        <p:nvPicPr>
          <p:cNvPr id="54" name="Picture 5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939" y="3487779"/>
            <a:ext cx="5267325" cy="341377"/>
          </a:xfrm>
          <a:prstGeom prst="rect">
            <a:avLst/>
          </a:prstGeom>
        </p:spPr>
      </p:pic>
      <p:sp>
        <p:nvSpPr>
          <p:cNvPr id="55" name="Rectangle 54"/>
          <p:cNvSpPr/>
          <p:nvPr/>
        </p:nvSpPr>
        <p:spPr>
          <a:xfrm>
            <a:off x="6452602" y="3512269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15</a:t>
            </a:r>
          </a:p>
        </p:txBody>
      </p:sp>
      <p:sp>
        <p:nvSpPr>
          <p:cNvPr id="56" name="Rectangle 55"/>
          <p:cNvSpPr/>
          <p:nvPr/>
        </p:nvSpPr>
        <p:spPr>
          <a:xfrm>
            <a:off x="7806763" y="3512269"/>
            <a:ext cx="143821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PORBANDAR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208221" y="3512269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20</a:t>
            </a:r>
          </a:p>
        </p:txBody>
      </p:sp>
      <p:pic>
        <p:nvPicPr>
          <p:cNvPr id="59" name="Picture 5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355" y="3954847"/>
            <a:ext cx="5267325" cy="341377"/>
          </a:xfrm>
          <a:prstGeom prst="rect">
            <a:avLst/>
          </a:prstGeom>
        </p:spPr>
      </p:pic>
      <p:sp>
        <p:nvSpPr>
          <p:cNvPr id="60" name="Rectangle 59"/>
          <p:cNvSpPr/>
          <p:nvPr/>
        </p:nvSpPr>
        <p:spPr>
          <a:xfrm>
            <a:off x="825684" y="3971646"/>
            <a:ext cx="4203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06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179845" y="3971646"/>
            <a:ext cx="103746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GODHRA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99071" y="3971646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10</a:t>
            </a:r>
          </a:p>
        </p:txBody>
      </p:sp>
      <p:pic>
        <p:nvPicPr>
          <p:cNvPr id="63" name="Picture 6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249" y="3958712"/>
            <a:ext cx="5267325" cy="341377"/>
          </a:xfrm>
          <a:prstGeom prst="rect">
            <a:avLst/>
          </a:prstGeom>
        </p:spPr>
      </p:pic>
      <p:sp>
        <p:nvSpPr>
          <p:cNvPr id="64" name="Rectangle 63"/>
          <p:cNvSpPr/>
          <p:nvPr/>
        </p:nvSpPr>
        <p:spPr>
          <a:xfrm>
            <a:off x="6451912" y="3983202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16</a:t>
            </a:r>
          </a:p>
        </p:txBody>
      </p:sp>
      <p:sp>
        <p:nvSpPr>
          <p:cNvPr id="65" name="Rectangle 64"/>
          <p:cNvSpPr/>
          <p:nvPr/>
        </p:nvSpPr>
        <p:spPr>
          <a:xfrm>
            <a:off x="7806073" y="3983202"/>
            <a:ext cx="108234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DWARKA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207531" y="3983202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 smtClean="0">
                <a:solidFill>
                  <a:schemeClr val="bg1"/>
                </a:solidFill>
                <a:latin typeface="Montserrat" pitchFamily="2" charset="0"/>
              </a:rPr>
              <a:t>10</a:t>
            </a:r>
            <a:endParaRPr lang="en-IN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68" name="Picture 6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9355" y="4431078"/>
            <a:ext cx="5267325" cy="341377"/>
          </a:xfrm>
          <a:prstGeom prst="rect">
            <a:avLst/>
          </a:prstGeom>
        </p:spPr>
      </p:pic>
      <p:sp>
        <p:nvSpPr>
          <p:cNvPr id="69" name="Rectangle 68"/>
          <p:cNvSpPr/>
          <p:nvPr/>
        </p:nvSpPr>
        <p:spPr>
          <a:xfrm>
            <a:off x="825684" y="4447877"/>
            <a:ext cx="41710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07</a:t>
            </a:r>
          </a:p>
        </p:txBody>
      </p:sp>
      <p:sp>
        <p:nvSpPr>
          <p:cNvPr id="70" name="Rectangle 69"/>
          <p:cNvSpPr/>
          <p:nvPr/>
        </p:nvSpPr>
        <p:spPr>
          <a:xfrm>
            <a:off x="2179845" y="4447877"/>
            <a:ext cx="156485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ANKLESHWAR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4599071" y="4447877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10</a:t>
            </a:r>
          </a:p>
        </p:txBody>
      </p:sp>
      <p:pic>
        <p:nvPicPr>
          <p:cNvPr id="72" name="Picture 7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8249" y="4434943"/>
            <a:ext cx="5267325" cy="341377"/>
          </a:xfrm>
          <a:prstGeom prst="rect">
            <a:avLst/>
          </a:prstGeom>
        </p:spPr>
      </p:pic>
      <p:sp>
        <p:nvSpPr>
          <p:cNvPr id="73" name="Rectangle 72"/>
          <p:cNvSpPr/>
          <p:nvPr/>
        </p:nvSpPr>
        <p:spPr>
          <a:xfrm>
            <a:off x="6451912" y="4459433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17</a:t>
            </a:r>
          </a:p>
        </p:txBody>
      </p:sp>
      <p:sp>
        <p:nvSpPr>
          <p:cNvPr id="74" name="Rectangle 73"/>
          <p:cNvSpPr/>
          <p:nvPr/>
        </p:nvSpPr>
        <p:spPr>
          <a:xfrm>
            <a:off x="7806073" y="4459433"/>
            <a:ext cx="128112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JAMNAGAR</a:t>
            </a:r>
          </a:p>
        </p:txBody>
      </p:sp>
      <p:sp>
        <p:nvSpPr>
          <p:cNvPr id="75" name="Rectangle 74"/>
          <p:cNvSpPr/>
          <p:nvPr/>
        </p:nvSpPr>
        <p:spPr>
          <a:xfrm>
            <a:off x="10207531" y="4459433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 smtClean="0">
                <a:solidFill>
                  <a:schemeClr val="bg1"/>
                </a:solidFill>
                <a:latin typeface="Montserrat" pitchFamily="2" charset="0"/>
              </a:rPr>
              <a:t>10</a:t>
            </a:r>
            <a:endParaRPr lang="en-IN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77" name="Picture 7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887" y="4907309"/>
            <a:ext cx="5267325" cy="341377"/>
          </a:xfrm>
          <a:prstGeom prst="rect">
            <a:avLst/>
          </a:prstGeom>
        </p:spPr>
      </p:pic>
      <p:sp>
        <p:nvSpPr>
          <p:cNvPr id="78" name="Rectangle 77"/>
          <p:cNvSpPr/>
          <p:nvPr/>
        </p:nvSpPr>
        <p:spPr>
          <a:xfrm>
            <a:off x="824216" y="4924108"/>
            <a:ext cx="42511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08</a:t>
            </a:r>
          </a:p>
        </p:txBody>
      </p:sp>
      <p:sp>
        <p:nvSpPr>
          <p:cNvPr id="79" name="Rectangle 78"/>
          <p:cNvSpPr/>
          <p:nvPr/>
        </p:nvSpPr>
        <p:spPr>
          <a:xfrm>
            <a:off x="2178377" y="4924108"/>
            <a:ext cx="81945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SURAT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4597603" y="4924108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20</a:t>
            </a:r>
          </a:p>
        </p:txBody>
      </p:sp>
      <p:pic>
        <p:nvPicPr>
          <p:cNvPr id="81" name="Picture 80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6781" y="4911174"/>
            <a:ext cx="5267325" cy="341377"/>
          </a:xfrm>
          <a:prstGeom prst="rect">
            <a:avLst/>
          </a:prstGeom>
        </p:spPr>
      </p:pic>
      <p:sp>
        <p:nvSpPr>
          <p:cNvPr id="82" name="Rectangle 81"/>
          <p:cNvSpPr/>
          <p:nvPr/>
        </p:nvSpPr>
        <p:spPr>
          <a:xfrm>
            <a:off x="6450444" y="4935664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18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804605" y="4935664"/>
            <a:ext cx="8370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MORBI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206063" y="4935664"/>
            <a:ext cx="3626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 smtClean="0">
                <a:solidFill>
                  <a:schemeClr val="bg1"/>
                </a:solidFill>
                <a:latin typeface="Montserrat" pitchFamily="2" charset="0"/>
              </a:rPr>
              <a:t>15</a:t>
            </a:r>
            <a:endParaRPr lang="en-IN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86" name="Picture 8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887" y="5366739"/>
            <a:ext cx="5267325" cy="341377"/>
          </a:xfrm>
          <a:prstGeom prst="rect">
            <a:avLst/>
          </a:prstGeom>
        </p:spPr>
      </p:pic>
      <p:sp>
        <p:nvSpPr>
          <p:cNvPr id="87" name="Rectangle 86"/>
          <p:cNvSpPr/>
          <p:nvPr/>
        </p:nvSpPr>
        <p:spPr>
          <a:xfrm>
            <a:off x="824216" y="5383538"/>
            <a:ext cx="4203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09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178377" y="5383538"/>
            <a:ext cx="96693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VALSAD</a:t>
            </a:r>
          </a:p>
        </p:txBody>
      </p:sp>
      <p:sp>
        <p:nvSpPr>
          <p:cNvPr id="89" name="Rectangle 88"/>
          <p:cNvSpPr/>
          <p:nvPr/>
        </p:nvSpPr>
        <p:spPr>
          <a:xfrm>
            <a:off x="4597603" y="5383538"/>
            <a:ext cx="3786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14</a:t>
            </a:r>
          </a:p>
        </p:txBody>
      </p:sp>
      <p:pic>
        <p:nvPicPr>
          <p:cNvPr id="90" name="Picture 8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6781" y="5370604"/>
            <a:ext cx="5267325" cy="341377"/>
          </a:xfrm>
          <a:prstGeom prst="rect">
            <a:avLst/>
          </a:prstGeom>
        </p:spPr>
      </p:pic>
      <p:sp>
        <p:nvSpPr>
          <p:cNvPr id="91" name="Rectangle 90"/>
          <p:cNvSpPr/>
          <p:nvPr/>
        </p:nvSpPr>
        <p:spPr>
          <a:xfrm>
            <a:off x="6450444" y="5395094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19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804605" y="5395094"/>
            <a:ext cx="115768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BHACHAU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0206063" y="5395094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 smtClean="0">
                <a:solidFill>
                  <a:schemeClr val="bg1"/>
                </a:solidFill>
                <a:latin typeface="Montserrat" pitchFamily="2" charset="0"/>
              </a:rPr>
              <a:t>10</a:t>
            </a:r>
            <a:endParaRPr lang="en-IN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95" name="Picture 94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67887" y="5837672"/>
            <a:ext cx="5267325" cy="341377"/>
          </a:xfrm>
          <a:prstGeom prst="rect">
            <a:avLst/>
          </a:prstGeom>
        </p:spPr>
      </p:pic>
      <p:sp>
        <p:nvSpPr>
          <p:cNvPr id="96" name="Rectangle 95"/>
          <p:cNvSpPr/>
          <p:nvPr/>
        </p:nvSpPr>
        <p:spPr>
          <a:xfrm>
            <a:off x="824216" y="5854471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10</a:t>
            </a:r>
          </a:p>
        </p:txBody>
      </p:sp>
      <p:sp>
        <p:nvSpPr>
          <p:cNvPr id="97" name="Rectangle 96"/>
          <p:cNvSpPr/>
          <p:nvPr/>
        </p:nvSpPr>
        <p:spPr>
          <a:xfrm>
            <a:off x="2178377" y="5854471"/>
            <a:ext cx="96372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CHIKHLI</a:t>
            </a:r>
          </a:p>
        </p:txBody>
      </p:sp>
      <p:sp>
        <p:nvSpPr>
          <p:cNvPr id="98" name="Rectangle 97"/>
          <p:cNvSpPr/>
          <p:nvPr/>
        </p:nvSpPr>
        <p:spPr>
          <a:xfrm>
            <a:off x="4597603" y="5854471"/>
            <a:ext cx="3770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10</a:t>
            </a:r>
          </a:p>
        </p:txBody>
      </p:sp>
      <p:pic>
        <p:nvPicPr>
          <p:cNvPr id="99" name="Picture 9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206781" y="5841537"/>
            <a:ext cx="5267325" cy="341377"/>
          </a:xfrm>
          <a:prstGeom prst="rect">
            <a:avLst/>
          </a:prstGeom>
        </p:spPr>
      </p:pic>
      <p:sp>
        <p:nvSpPr>
          <p:cNvPr id="100" name="Rectangle 99"/>
          <p:cNvSpPr/>
          <p:nvPr/>
        </p:nvSpPr>
        <p:spPr>
          <a:xfrm>
            <a:off x="6450444" y="5866027"/>
            <a:ext cx="41229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20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804605" y="5866027"/>
            <a:ext cx="194316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>
                <a:solidFill>
                  <a:schemeClr val="bg1"/>
                </a:solidFill>
                <a:latin typeface="Montserrat" pitchFamily="2" charset="0"/>
              </a:rPr>
              <a:t>SURENDRANAGAR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10206063" y="5866027"/>
            <a:ext cx="36260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1400" b="1" dirty="0" smtClean="0">
                <a:solidFill>
                  <a:schemeClr val="bg1"/>
                </a:solidFill>
                <a:latin typeface="Montserrat" pitchFamily="2" charset="0"/>
              </a:rPr>
              <a:t>15</a:t>
            </a:r>
            <a:endParaRPr lang="en-IN" sz="14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2949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564424" y="386834"/>
            <a:ext cx="70631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Montserrat" pitchFamily="2" charset="0"/>
              </a:rPr>
              <a:t>DATA </a:t>
            </a:r>
            <a:r>
              <a:rPr lang="en-IN" sz="3600" b="1" dirty="0" smtClean="0">
                <a:latin typeface="Montserrat" pitchFamily="2" charset="0"/>
              </a:rPr>
              <a:t>DRIVEN ADVERTISING</a:t>
            </a:r>
            <a:endParaRPr lang="en-IN" sz="3600" b="1" dirty="0">
              <a:latin typeface="Montserrat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53043" y="1365612"/>
            <a:ext cx="3151632" cy="4395216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604675" y="1486329"/>
            <a:ext cx="60917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DATA </a:t>
            </a:r>
            <a:r>
              <a:rPr lang="en-IN" sz="3200" dirty="0" smtClean="0">
                <a:latin typeface="Montserrat" pitchFamily="2" charset="0"/>
              </a:rPr>
              <a:t>DRIVEN ADVERTISING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00114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29L+ </a:t>
            </a:r>
            <a:r>
              <a:rPr lang="en-IN" sz="3200" dirty="0">
                <a:latin typeface="Montserrat" pitchFamily="2" charset="0"/>
              </a:rPr>
              <a:t>Monthly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93862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95k+ </a:t>
            </a:r>
            <a:r>
              <a:rPr lang="en-IN" sz="3200" dirty="0">
                <a:latin typeface="Montserrat" pitchFamily="2" charset="0"/>
              </a:rPr>
              <a:t>Per Day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295625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30k+ </a:t>
            </a:r>
            <a:r>
              <a:rPr lang="en-IN" sz="3200" dirty="0">
                <a:latin typeface="Montserrat" pitchFamily="2" charset="0"/>
              </a:rPr>
              <a:t>Per Day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</p:spTree>
    <p:extLst>
      <p:ext uri="{BB962C8B-B14F-4D97-AF65-F5344CB8AC3E}">
        <p14:creationId xmlns:p14="http://schemas.microsoft.com/office/powerpoint/2010/main" val="4291235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3374370" y="386834"/>
            <a:ext cx="546175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Montserrat" pitchFamily="2" charset="0"/>
              </a:rPr>
              <a:t>MEDIA DATA REPORT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Media Data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501" y="1197579"/>
            <a:ext cx="10811256" cy="4748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7366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20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5222" y="315940"/>
            <a:ext cx="270527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ANAND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33734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564424" y="386834"/>
            <a:ext cx="74110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ANAND 20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28103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3114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6.5k+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78142" y="1365612"/>
            <a:ext cx="3126533" cy="4351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24763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24" y="0"/>
            <a:ext cx="12188952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9384922" y="315940"/>
            <a:ext cx="2705274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KHEDA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7502592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456650" y="386834"/>
            <a:ext cx="741100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KHEDA 10 SCREENS - 55” </a:t>
            </a:r>
            <a:r>
              <a:rPr lang="en-US" sz="3600" b="1" dirty="0" smtClean="0">
                <a:latin typeface="Montserrat" pitchFamily="2" charset="0"/>
              </a:rPr>
              <a:t>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2777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65K+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3114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2.2k+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04602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700+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46941" y="1352912"/>
            <a:ext cx="3157734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45731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355222" y="315940"/>
            <a:ext cx="543597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>
                <a:solidFill>
                  <a:schemeClr val="bg1"/>
                </a:solidFill>
                <a:latin typeface="Montserrat" pitchFamily="2" charset="0"/>
              </a:rPr>
              <a:t>GANDHINAGAR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20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26997508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498054" y="386834"/>
            <a:ext cx="93410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GANDHINAGAR 20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726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2.7L+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7638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9k+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645" y="1304808"/>
            <a:ext cx="3163830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591300" y="315940"/>
            <a:ext cx="549889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HIMMATNAGAR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20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30240319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498054" y="386834"/>
            <a:ext cx="934101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HIMMATNAGAR 20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7266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2.7L+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76389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9k+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3k+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09645" y="1304807"/>
            <a:ext cx="3163830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5763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5222" y="315940"/>
            <a:ext cx="27975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DAHOD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07622" y="468340"/>
            <a:ext cx="2797553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DAHOD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15654232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414543" y="386834"/>
            <a:ext cx="736291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DAHOD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28103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3114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6.5k+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46330" y="1231387"/>
            <a:ext cx="2890460" cy="4505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99155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401050" y="315940"/>
            <a:ext cx="326707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GODHRA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71388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323601" y="386834"/>
            <a:ext cx="767710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GODHRA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037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38k+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3114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1.2k+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00915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368+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84905" y="1304808"/>
            <a:ext cx="2813310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484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44311" y="420715"/>
            <a:ext cx="541692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>
                <a:solidFill>
                  <a:schemeClr val="bg1"/>
                </a:solidFill>
                <a:latin typeface="Montserrat" pitchFamily="2" charset="0"/>
              </a:rPr>
              <a:t>ANKLESHWAR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113443000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636715" y="386834"/>
            <a:ext cx="903965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ANKLESHWAR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0373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1.6L+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3114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5.3k+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274466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36715" y="1304807"/>
            <a:ext cx="2813310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8846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20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39251" y="315940"/>
            <a:ext cx="259080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SURAT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768609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370890" y="386834"/>
            <a:ext cx="72122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SURAT 20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999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2.4L+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77351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8k+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095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2.5k+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5888" y="1231387"/>
            <a:ext cx="2810262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902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4311" y="420715"/>
            <a:ext cx="541692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VALSAD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14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323818799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370890" y="386834"/>
            <a:ext cx="74943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VALSAD 14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27286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309732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3.5k+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095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1.2k+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3696" y="1231387"/>
            <a:ext cx="2822454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184650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782050" y="315940"/>
            <a:ext cx="312419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CHIKHLI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04676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370890" y="386834"/>
            <a:ext cx="74943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CHIKHLI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0796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1.5L+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095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1.7K+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73696" y="1229863"/>
            <a:ext cx="2816358" cy="4398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07077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4311" y="420715"/>
            <a:ext cx="541692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BOTAD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3986421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452600" y="386834"/>
            <a:ext cx="749435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BOTAD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27286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8184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4K+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095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46383" y="1304808"/>
            <a:ext cx="2932182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37080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7200900" y="315940"/>
            <a:ext cx="470534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BHAVNAGAR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15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34872527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909675" y="386834"/>
            <a:ext cx="86453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BHAVNAGAR 15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27286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81840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4K+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095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0741" y="1304808"/>
            <a:ext cx="2804166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79572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4311" y="420715"/>
            <a:ext cx="541692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>
                <a:solidFill>
                  <a:schemeClr val="bg1"/>
                </a:solidFill>
                <a:latin typeface="Montserrat" pitchFamily="2" charset="0"/>
              </a:rPr>
              <a:t>VERAVAL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377005814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109601" y="386834"/>
            <a:ext cx="78085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VERAVAL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149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78k+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3113353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2.6k+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09571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675+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10741" y="1304807"/>
            <a:ext cx="2825502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02394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15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581900" y="315940"/>
            <a:ext cx="4705349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JUNAGHAD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9099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971313" y="386834"/>
            <a:ext cx="82493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JUNAGADH 15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281038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7574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7k+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167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2.4K+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5646" y="1304806"/>
            <a:ext cx="2816358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34621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44311" y="420715"/>
            <a:ext cx="541692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PORBANDAR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9282312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835487" y="386834"/>
            <a:ext cx="8706230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PORBANDAR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07968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1.5L+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7574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167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95646" y="1231387"/>
            <a:ext cx="2810262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6751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15325" y="315940"/>
            <a:ext cx="3533775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DWARKA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585018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200542" y="386834"/>
            <a:ext cx="779091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DWARKA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27286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75748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3k+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167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1.4k+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685511" y="1264901"/>
            <a:ext cx="2932182" cy="4416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537722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44311" y="420715"/>
            <a:ext cx="541692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JAMNAGAR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411020870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035862" y="386834"/>
            <a:ext cx="83054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JAMNAGAR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181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1.4L+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31470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4.7k+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167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1.3K+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6471" y="1231387"/>
            <a:ext cx="2810262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945657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15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220201" y="315940"/>
            <a:ext cx="2762250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 smtClean="0">
                <a:solidFill>
                  <a:schemeClr val="bg1"/>
                </a:solidFill>
                <a:latin typeface="Montserrat" pitchFamily="2" charset="0"/>
              </a:rPr>
              <a:t>MORBI</a:t>
            </a:r>
            <a:endParaRPr lang="en-IN" sz="5000" b="1" dirty="0">
              <a:solidFill>
                <a:schemeClr val="bg1"/>
              </a:solidFill>
              <a:latin typeface="Montserra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3018124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692293" y="386834"/>
            <a:ext cx="711605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MORBI 15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27286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31470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3.5k+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16785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1.3K+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66048" y="1231387"/>
            <a:ext cx="2819406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11540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444311" y="420715"/>
            <a:ext cx="5416928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>
                <a:solidFill>
                  <a:schemeClr val="bg1"/>
                </a:solidFill>
                <a:latin typeface="Montserrat" pitchFamily="2" charset="0"/>
              </a:rPr>
              <a:t>BHACHAU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73940" y="5825235"/>
            <a:ext cx="5718060" cy="490729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755315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10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</p:spTree>
    <p:extLst>
      <p:ext uri="{BB962C8B-B14F-4D97-AF65-F5344CB8AC3E}">
        <p14:creationId xmlns:p14="http://schemas.microsoft.com/office/powerpoint/2010/main" val="254768163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193758" y="386834"/>
            <a:ext cx="798968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BHACHAU 10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630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90K+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74626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3k+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2908168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815+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1410" y="1231387"/>
            <a:ext cx="2822454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08548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5825235"/>
            <a:ext cx="6291085" cy="49377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14201" y="5825235"/>
            <a:ext cx="4381674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800" dirty="0" smtClean="0">
                <a:latin typeface="Montserrat" pitchFamily="2" charset="0"/>
              </a:rPr>
              <a:t>15 </a:t>
            </a:r>
            <a:r>
              <a:rPr lang="en-IN" sz="2800" dirty="0">
                <a:latin typeface="Montserrat" pitchFamily="2" charset="0"/>
              </a:rPr>
              <a:t>SCREENS- 55” SIZE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57825" y="315940"/>
            <a:ext cx="6524626" cy="8617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000" b="1" dirty="0">
                <a:solidFill>
                  <a:schemeClr val="bg1"/>
                </a:solidFill>
                <a:latin typeface="Montserrat" pitchFamily="2" charset="0"/>
              </a:rPr>
              <a:t>SURENDRANAGAR</a:t>
            </a:r>
          </a:p>
        </p:txBody>
      </p:sp>
    </p:spTree>
    <p:extLst>
      <p:ext uri="{BB962C8B-B14F-4D97-AF65-F5344CB8AC3E}">
        <p14:creationId xmlns:p14="http://schemas.microsoft.com/office/powerpoint/2010/main" val="234339046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1107294" y="386834"/>
            <a:ext cx="997741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 dirty="0">
                <a:latin typeface="Montserrat" pitchFamily="2" charset="0"/>
              </a:rPr>
              <a:t>SURENDRANAGAR 15 SCREENS- 55” SIZE</a:t>
            </a:r>
            <a:endParaRPr lang="en-IN" sz="3600" b="1" dirty="0">
              <a:latin typeface="Montserrat" pitchFamily="2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04675" y="1486329"/>
            <a:ext cx="43300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IMPRESSION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04675" y="2071104"/>
            <a:ext cx="316304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1.3L+ Monthly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04675" y="2655879"/>
            <a:ext cx="2784737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4k+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604675" y="4013157"/>
            <a:ext cx="304762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b="1" dirty="0">
                <a:latin typeface="Montserrat" pitchFamily="2" charset="0"/>
              </a:rPr>
              <a:t>1.5K+ Per Day</a:t>
            </a:r>
            <a:endParaRPr lang="en-IN" sz="3200" dirty="0">
              <a:latin typeface="Montserrat" pitchFamily="2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04675" y="3502421"/>
            <a:ext cx="520366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200" dirty="0">
                <a:latin typeface="Montserrat" pitchFamily="2" charset="0"/>
              </a:rPr>
              <a:t>TOTAL </a:t>
            </a:r>
            <a:r>
              <a:rPr lang="en-IN" sz="3200" b="1" dirty="0">
                <a:latin typeface="Montserrat" pitchFamily="2" charset="0"/>
              </a:rPr>
              <a:t>UNIQUE PEOPLE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7076" y="4774791"/>
            <a:ext cx="6096000" cy="58477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Gender Distribution, Age Distribution </a:t>
            </a:r>
          </a:p>
          <a:p>
            <a:r>
              <a:rPr lang="en-IN" sz="1600" dirty="0">
                <a:latin typeface="Montserrat" pitchFamily="2" charset="0"/>
              </a:rPr>
              <a:t>&amp; </a:t>
            </a:r>
            <a:r>
              <a:rPr lang="en-IN" sz="1600" dirty="0" smtClean="0">
                <a:latin typeface="Montserrat" pitchFamily="2" charset="0"/>
              </a:rPr>
              <a:t>Many </a:t>
            </a:r>
            <a:r>
              <a:rPr lang="en-IN" sz="1600" dirty="0">
                <a:latin typeface="Montserrat" pitchFamily="2" charset="0"/>
              </a:rPr>
              <a:t>More.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8501" y="6110777"/>
            <a:ext cx="324819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600" dirty="0">
                <a:latin typeface="Montserrat" pitchFamily="2" charset="0"/>
              </a:rPr>
              <a:t>*Sample AI Analytics Report</a:t>
            </a:r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42807" y="1231387"/>
            <a:ext cx="2810262" cy="4395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99545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0283" y="386834"/>
            <a:ext cx="255550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Montserrat" pitchFamily="2" charset="0"/>
              </a:rPr>
              <a:t>BENEFITS</a:t>
            </a:r>
          </a:p>
        </p:txBody>
      </p:sp>
      <p:grpSp>
        <p:nvGrpSpPr>
          <p:cNvPr id="31" name="Group 30"/>
          <p:cNvGrpSpPr/>
          <p:nvPr/>
        </p:nvGrpSpPr>
        <p:grpSpPr>
          <a:xfrm>
            <a:off x="348058" y="1240227"/>
            <a:ext cx="11460274" cy="359666"/>
            <a:chOff x="348058" y="1240227"/>
            <a:chExt cx="11460274" cy="359666"/>
          </a:xfrm>
        </p:grpSpPr>
        <p:sp>
          <p:nvSpPr>
            <p:cNvPr id="5" name="Rectangle 4"/>
            <p:cNvSpPr/>
            <p:nvPr/>
          </p:nvSpPr>
          <p:spPr>
            <a:xfrm>
              <a:off x="882983" y="1252240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Massive Reach : 264 screens in 20+ cities, Reach thousands daily.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3" name="Picture 2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058" y="1240227"/>
              <a:ext cx="356618" cy="359666"/>
            </a:xfrm>
            <a:prstGeom prst="rect">
              <a:avLst/>
            </a:prstGeom>
          </p:spPr>
        </p:pic>
      </p:grpSp>
      <p:grpSp>
        <p:nvGrpSpPr>
          <p:cNvPr id="32" name="Group 31"/>
          <p:cNvGrpSpPr/>
          <p:nvPr/>
        </p:nvGrpSpPr>
        <p:grpSpPr>
          <a:xfrm>
            <a:off x="348058" y="1818968"/>
            <a:ext cx="11428524" cy="371968"/>
            <a:chOff x="348058" y="1818968"/>
            <a:chExt cx="11428524" cy="371968"/>
          </a:xfrm>
        </p:grpSpPr>
        <p:sp>
          <p:nvSpPr>
            <p:cNvPr id="7" name="Rectangle 6"/>
            <p:cNvSpPr/>
            <p:nvPr/>
          </p:nvSpPr>
          <p:spPr>
            <a:xfrm>
              <a:off x="851233" y="1852382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High Frequency &amp; Strong Brand Recall : Daily repeat ads for brand recall 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058" y="1818968"/>
              <a:ext cx="356617" cy="359665"/>
            </a:xfrm>
            <a:prstGeom prst="rect">
              <a:avLst/>
            </a:prstGeom>
          </p:spPr>
        </p:pic>
      </p:grpSp>
      <p:grpSp>
        <p:nvGrpSpPr>
          <p:cNvPr id="33" name="Group 32"/>
          <p:cNvGrpSpPr/>
          <p:nvPr/>
        </p:nvGrpSpPr>
        <p:grpSpPr>
          <a:xfrm>
            <a:off x="355907" y="2425325"/>
            <a:ext cx="11388925" cy="356617"/>
            <a:chOff x="355907" y="2339209"/>
            <a:chExt cx="11388925" cy="356617"/>
          </a:xfrm>
        </p:grpSpPr>
        <p:sp>
          <p:nvSpPr>
            <p:cNvPr id="9" name="Rectangle 8"/>
            <p:cNvSpPr/>
            <p:nvPr/>
          </p:nvSpPr>
          <p:spPr>
            <a:xfrm>
              <a:off x="819483" y="2357272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Captive Audience Advantage : Waiting passengers = attentive audience 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5907" y="2339209"/>
              <a:ext cx="356617" cy="356617"/>
            </a:xfrm>
            <a:prstGeom prst="rect">
              <a:avLst/>
            </a:prstGeom>
          </p:spPr>
        </p:pic>
      </p:grpSp>
      <p:grpSp>
        <p:nvGrpSpPr>
          <p:cNvPr id="34" name="Group 33"/>
          <p:cNvGrpSpPr/>
          <p:nvPr/>
        </p:nvGrpSpPr>
        <p:grpSpPr>
          <a:xfrm>
            <a:off x="355907" y="2964756"/>
            <a:ext cx="11357175" cy="356618"/>
            <a:chOff x="355907" y="2822788"/>
            <a:chExt cx="11357175" cy="356618"/>
          </a:xfrm>
        </p:grpSpPr>
        <p:sp>
          <p:nvSpPr>
            <p:cNvPr id="11" name="Rectangle 10"/>
            <p:cNvSpPr/>
            <p:nvPr/>
          </p:nvSpPr>
          <p:spPr>
            <a:xfrm>
              <a:off x="787733" y="2840852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Data-Driven Precision with AI Analytics : AI insights for smarter campaigns 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5907" y="2822788"/>
              <a:ext cx="356617" cy="356617"/>
            </a:xfrm>
            <a:prstGeom prst="rect">
              <a:avLst/>
            </a:prstGeom>
          </p:spPr>
        </p:pic>
      </p:grpSp>
      <p:grpSp>
        <p:nvGrpSpPr>
          <p:cNvPr id="35" name="Group 34"/>
          <p:cNvGrpSpPr/>
          <p:nvPr/>
        </p:nvGrpSpPr>
        <p:grpSpPr>
          <a:xfrm>
            <a:off x="355907" y="3545826"/>
            <a:ext cx="11357175" cy="356617"/>
            <a:chOff x="355907" y="3306368"/>
            <a:chExt cx="11357175" cy="356617"/>
          </a:xfrm>
        </p:grpSpPr>
        <p:sp>
          <p:nvSpPr>
            <p:cNvPr id="15" name="Rectangle 14"/>
            <p:cNvSpPr/>
            <p:nvPr/>
          </p:nvSpPr>
          <p:spPr>
            <a:xfrm>
              <a:off x="787733" y="3316305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Measurable ROI &amp; Transparency : Transparent reporting, measurable ROI </a:t>
              </a:r>
            </a:p>
          </p:txBody>
        </p:sp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6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55907" y="3306368"/>
              <a:ext cx="356617" cy="356617"/>
            </a:xfrm>
            <a:prstGeom prst="rect">
              <a:avLst/>
            </a:prstGeom>
          </p:spPr>
        </p:pic>
      </p:grpSp>
      <p:grpSp>
        <p:nvGrpSpPr>
          <p:cNvPr id="36" name="Group 35"/>
          <p:cNvGrpSpPr/>
          <p:nvPr/>
        </p:nvGrpSpPr>
        <p:grpSpPr>
          <a:xfrm>
            <a:off x="371782" y="4192165"/>
            <a:ext cx="11341300" cy="359665"/>
            <a:chOff x="371782" y="3770648"/>
            <a:chExt cx="11341300" cy="359665"/>
          </a:xfrm>
        </p:grpSpPr>
        <p:sp>
          <p:nvSpPr>
            <p:cNvPr id="17" name="Rectangle 16"/>
            <p:cNvSpPr/>
            <p:nvPr/>
          </p:nvSpPr>
          <p:spPr>
            <a:xfrm>
              <a:off x="787733" y="3791759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Flexible &amp; Dynamic Campaigns : Flexible scheduling &amp; updates 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29" name="Picture 28"/>
            <p:cNvPicPr>
              <a:picLocks noChangeAspect="1"/>
            </p:cNvPicPr>
            <p:nvPr/>
          </p:nvPicPr>
          <p:blipFill>
            <a:blip r:embed="rId7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71782" y="3770648"/>
              <a:ext cx="356617" cy="359665"/>
            </a:xfrm>
            <a:prstGeom prst="rect">
              <a:avLst/>
            </a:prstGeom>
          </p:spPr>
        </p:pic>
      </p:grpSp>
      <p:grpSp>
        <p:nvGrpSpPr>
          <p:cNvPr id="37" name="Group 36"/>
          <p:cNvGrpSpPr/>
          <p:nvPr/>
        </p:nvGrpSpPr>
        <p:grpSpPr>
          <a:xfrm>
            <a:off x="348057" y="4820733"/>
            <a:ext cx="11281967" cy="400765"/>
            <a:chOff x="348057" y="4274602"/>
            <a:chExt cx="11281967" cy="400765"/>
          </a:xfrm>
        </p:grpSpPr>
        <p:sp>
          <p:nvSpPr>
            <p:cNvPr id="20" name="Rectangle 19"/>
            <p:cNvSpPr/>
            <p:nvPr/>
          </p:nvSpPr>
          <p:spPr>
            <a:xfrm>
              <a:off x="704675" y="4336813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 Credibility &amp; Trust : 700+ clients, 2400+ campaigns, Trusted </a:t>
              </a:r>
              <a:r>
                <a:rPr lang="en-US" sz="1600" dirty="0" err="1">
                  <a:latin typeface="Montserrat" pitchFamily="2" charset="0"/>
                </a:rPr>
                <a:t>govt</a:t>
              </a:r>
              <a:r>
                <a:rPr lang="en-US" sz="1600" dirty="0">
                  <a:latin typeface="Montserrat" pitchFamily="2" charset="0"/>
                </a:rPr>
                <a:t>-approved agency </a:t>
              </a:r>
            </a:p>
          </p:txBody>
        </p:sp>
        <p:pic>
          <p:nvPicPr>
            <p:cNvPr id="30" name="Picture 29"/>
            <p:cNvPicPr>
              <a:picLocks noChangeAspect="1"/>
            </p:cNvPicPr>
            <p:nvPr/>
          </p:nvPicPr>
          <p:blipFill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48057" y="4274602"/>
              <a:ext cx="356617" cy="3596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50352493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50283" y="386834"/>
            <a:ext cx="4911922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sz="3600" b="1" dirty="0">
                <a:latin typeface="Montserrat" pitchFamily="2" charset="0"/>
              </a:rPr>
              <a:t>Terms &amp; Conditions</a:t>
            </a:r>
          </a:p>
        </p:txBody>
      </p:sp>
      <p:grpSp>
        <p:nvGrpSpPr>
          <p:cNvPr id="27" name="Group 26"/>
          <p:cNvGrpSpPr/>
          <p:nvPr/>
        </p:nvGrpSpPr>
        <p:grpSpPr>
          <a:xfrm>
            <a:off x="526621" y="1252240"/>
            <a:ext cx="11103403" cy="1077218"/>
            <a:chOff x="526621" y="1033165"/>
            <a:chExt cx="11103403" cy="1077218"/>
          </a:xfrm>
        </p:grpSpPr>
        <p:sp>
          <p:nvSpPr>
            <p:cNvPr id="5" name="Rectangle 4"/>
            <p:cNvSpPr/>
            <p:nvPr/>
          </p:nvSpPr>
          <p:spPr>
            <a:xfrm>
              <a:off x="704675" y="1033165"/>
              <a:ext cx="10925349" cy="107721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What We Do : We show your approved ads on LED screens for at least 30 days. Each screen plays your ad </a:t>
              </a:r>
            </a:p>
            <a:p>
              <a:r>
                <a:rPr lang="en-US" sz="1600" dirty="0">
                  <a:latin typeface="Montserrat" pitchFamily="2" charset="0"/>
                </a:rPr>
                <a:t>100 times a day (10 seconds each, in a 5-minute loop). We give AI reports on views and audience info. If a </a:t>
              </a:r>
            </a:p>
            <a:p>
              <a:r>
                <a:rPr lang="en-US" sz="1600" dirty="0">
                  <a:latin typeface="Montserrat" pitchFamily="2" charset="0"/>
                </a:rPr>
                <a:t>screen breakdown due to technical error, we move your ads to working screens to keep the same </a:t>
              </a:r>
            </a:p>
            <a:p>
              <a:r>
                <a:rPr lang="en-US" sz="1600" dirty="0">
                  <a:latin typeface="Montserrat" pitchFamily="2" charset="0"/>
                </a:rPr>
                <a:t>number of views.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2" name="Picture 1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526621" y="1105916"/>
              <a:ext cx="146304" cy="201168"/>
            </a:xfrm>
            <a:prstGeom prst="rect">
              <a:avLst/>
            </a:prstGeom>
          </p:spPr>
        </p:pic>
      </p:grpSp>
      <p:grpSp>
        <p:nvGrpSpPr>
          <p:cNvPr id="26" name="Group 25"/>
          <p:cNvGrpSpPr/>
          <p:nvPr/>
        </p:nvGrpSpPr>
        <p:grpSpPr>
          <a:xfrm>
            <a:off x="494871" y="2402209"/>
            <a:ext cx="11103403" cy="584775"/>
            <a:chOff x="494871" y="2183134"/>
            <a:chExt cx="11103403" cy="584775"/>
          </a:xfrm>
        </p:grpSpPr>
        <p:sp>
          <p:nvSpPr>
            <p:cNvPr id="7" name="Rectangle 6"/>
            <p:cNvSpPr/>
            <p:nvPr/>
          </p:nvSpPr>
          <p:spPr>
            <a:xfrm>
              <a:off x="672925" y="2183134"/>
              <a:ext cx="10925349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What You Do : Send us your ad files 7 days before start. Make sure ads follow laws and rules (no religion, </a:t>
              </a:r>
            </a:p>
            <a:p>
              <a:r>
                <a:rPr lang="en-US" sz="1600" dirty="0">
                  <a:latin typeface="Montserrat" pitchFamily="2" charset="0"/>
                </a:rPr>
                <a:t>or bad stuff). Check our previews in 2 days.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94871" y="2255885"/>
              <a:ext cx="146304" cy="201168"/>
            </a:xfrm>
            <a:prstGeom prst="rect">
              <a:avLst/>
            </a:prstGeom>
          </p:spPr>
        </p:pic>
      </p:grpSp>
      <p:grpSp>
        <p:nvGrpSpPr>
          <p:cNvPr id="25" name="Group 24"/>
          <p:cNvGrpSpPr/>
          <p:nvPr/>
        </p:nvGrpSpPr>
        <p:grpSpPr>
          <a:xfrm>
            <a:off x="463121" y="3050080"/>
            <a:ext cx="11103403" cy="584775"/>
            <a:chOff x="463121" y="2831005"/>
            <a:chExt cx="11103403" cy="584775"/>
          </a:xfrm>
        </p:grpSpPr>
        <p:sp>
          <p:nvSpPr>
            <p:cNvPr id="9" name="Rectangle 8"/>
            <p:cNvSpPr/>
            <p:nvPr/>
          </p:nvSpPr>
          <p:spPr>
            <a:xfrm>
              <a:off x="641175" y="2831005"/>
              <a:ext cx="10925349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Payment : Pay 50% up front to book. Pay the rest 15 days after campaign ends. Prices in INR with 18% GST. </a:t>
              </a:r>
            </a:p>
            <a:p>
              <a:r>
                <a:rPr lang="en-US" sz="1600" dirty="0">
                  <a:latin typeface="Montserrat" pitchFamily="2" charset="0"/>
                </a:rPr>
                <a:t>Late payments add 1.5% per month fee. Refunds only if we mess up big (more than 20% downtime).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63121" y="2903756"/>
              <a:ext cx="146304" cy="201168"/>
            </a:xfrm>
            <a:prstGeom prst="rect">
              <a:avLst/>
            </a:prstGeom>
          </p:spPr>
        </p:pic>
      </p:grpSp>
      <p:grpSp>
        <p:nvGrpSpPr>
          <p:cNvPr id="24" name="Group 23"/>
          <p:cNvGrpSpPr/>
          <p:nvPr/>
        </p:nvGrpSpPr>
        <p:grpSpPr>
          <a:xfrm>
            <a:off x="431371" y="3716419"/>
            <a:ext cx="11103403" cy="584775"/>
            <a:chOff x="431371" y="3497344"/>
            <a:chExt cx="11103403" cy="584775"/>
          </a:xfrm>
        </p:grpSpPr>
        <p:sp>
          <p:nvSpPr>
            <p:cNvPr id="11" name="Rectangle 10"/>
            <p:cNvSpPr/>
            <p:nvPr/>
          </p:nvSpPr>
          <p:spPr>
            <a:xfrm>
              <a:off x="609425" y="3497344"/>
              <a:ext cx="10925349" cy="58477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Your Ad Rights : You own your ad, but let us use it for the campaign and our promo. We own our AI tools </a:t>
              </a:r>
            </a:p>
            <a:p>
              <a:r>
                <a:rPr lang="en-US" sz="1600" dirty="0">
                  <a:latin typeface="Montserrat" pitchFamily="2" charset="0"/>
                </a:rPr>
                <a:t>and reports.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1371" y="3570095"/>
              <a:ext cx="146304" cy="201168"/>
            </a:xfrm>
            <a:prstGeom prst="rect">
              <a:avLst/>
            </a:prstGeom>
          </p:spPr>
        </p:pic>
      </p:grpSp>
      <p:grpSp>
        <p:nvGrpSpPr>
          <p:cNvPr id="19" name="Group 18"/>
          <p:cNvGrpSpPr/>
          <p:nvPr/>
        </p:nvGrpSpPr>
        <p:grpSpPr>
          <a:xfrm>
            <a:off x="431371" y="4441868"/>
            <a:ext cx="11103403" cy="338554"/>
            <a:chOff x="431371" y="4222793"/>
            <a:chExt cx="11103403" cy="338554"/>
          </a:xfrm>
        </p:grpSpPr>
        <p:sp>
          <p:nvSpPr>
            <p:cNvPr id="15" name="Rectangle 14"/>
            <p:cNvSpPr/>
            <p:nvPr/>
          </p:nvSpPr>
          <p:spPr>
            <a:xfrm>
              <a:off x="609425" y="4222793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Ending the Deal : Give 15 days notice to stop. If you stop early, no refund. We can stop right away.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1371" y="4295544"/>
              <a:ext cx="146304" cy="201168"/>
            </a:xfrm>
            <a:prstGeom prst="rect">
              <a:avLst/>
            </a:prstGeom>
          </p:spPr>
        </p:pic>
      </p:grpSp>
      <p:grpSp>
        <p:nvGrpSpPr>
          <p:cNvPr id="23" name="Group 22"/>
          <p:cNvGrpSpPr/>
          <p:nvPr/>
        </p:nvGrpSpPr>
        <p:grpSpPr>
          <a:xfrm>
            <a:off x="431371" y="5032911"/>
            <a:ext cx="11103403" cy="338554"/>
            <a:chOff x="431371" y="4914420"/>
            <a:chExt cx="11103403" cy="338554"/>
          </a:xfrm>
        </p:grpSpPr>
        <p:sp>
          <p:nvSpPr>
            <p:cNvPr id="17" name="Rectangle 16"/>
            <p:cNvSpPr/>
            <p:nvPr/>
          </p:nvSpPr>
          <p:spPr>
            <a:xfrm>
              <a:off x="609425" y="4914420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Our Responsibility : We only owe up to what you paid. Not for extra losses.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18" name="Picture 17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1371" y="4987171"/>
              <a:ext cx="146304" cy="201168"/>
            </a:xfrm>
            <a:prstGeom prst="rect">
              <a:avLst/>
            </a:prstGeom>
          </p:spPr>
        </p:pic>
      </p:grpSp>
      <p:grpSp>
        <p:nvGrpSpPr>
          <p:cNvPr id="22" name="Group 21"/>
          <p:cNvGrpSpPr/>
          <p:nvPr/>
        </p:nvGrpSpPr>
        <p:grpSpPr>
          <a:xfrm>
            <a:off x="431371" y="5527428"/>
            <a:ext cx="11103403" cy="338554"/>
            <a:chOff x="431371" y="5404879"/>
            <a:chExt cx="11103403" cy="338554"/>
          </a:xfrm>
        </p:grpSpPr>
        <p:sp>
          <p:nvSpPr>
            <p:cNvPr id="20" name="Rectangle 19"/>
            <p:cNvSpPr/>
            <p:nvPr/>
          </p:nvSpPr>
          <p:spPr>
            <a:xfrm>
              <a:off x="609425" y="5404879"/>
              <a:ext cx="10925349" cy="338554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1600" dirty="0">
                  <a:latin typeface="Montserrat" pitchFamily="2" charset="0"/>
                </a:rPr>
                <a:t> Rules &amp; Fights : Follows India laws.</a:t>
              </a:r>
              <a:endParaRPr lang="en-IN" sz="1600" dirty="0">
                <a:latin typeface="Montserrat" pitchFamily="2" charset="0"/>
              </a:endParaRPr>
            </a:p>
          </p:txBody>
        </p:sp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31371" y="5477630"/>
              <a:ext cx="146304" cy="20116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2519106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271</TotalTime>
  <Words>1297</Words>
  <Application>Microsoft Office PowerPoint</Application>
  <PresentationFormat>Widescreen</PresentationFormat>
  <Paragraphs>322</Paragraphs>
  <Slides>46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2" baseType="lpstr">
      <vt:lpstr>Arial</vt:lpstr>
      <vt:lpstr>Calibri</vt:lpstr>
      <vt:lpstr>Calibri Light</vt:lpstr>
      <vt:lpstr>Montserrat</vt:lpstr>
      <vt:lpstr>Office Theme</vt:lpstr>
      <vt:lpstr>CorelDRAW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VIPER PC</dc:creator>
  <cp:lastModifiedBy>VIPER PC</cp:lastModifiedBy>
  <cp:revision>194</cp:revision>
  <dcterms:created xsi:type="dcterms:W3CDTF">2025-12-30T08:34:03Z</dcterms:created>
  <dcterms:modified xsi:type="dcterms:W3CDTF">2026-04-07T12:37:06Z</dcterms:modified>
</cp:coreProperties>
</file>